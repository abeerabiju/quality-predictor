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DM Sans Bold" charset="0"/>
      <p:regular r:id="rId21"/>
      <p:bold r:id="rId22"/>
    </p:embeddedFont>
    <p:embeddedFont>
      <p:font typeface="PT Serif" panose="020A0603040505020204" pitchFamily="18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93578-B215-3056-EA22-871FA842439F}" v="23" dt="2026-06-30T14:57:02.583"/>
    <p1510:client id="{AD642185-BB9E-B9C4-8AA9-CB80511B3DAD}" v="1" dt="2026-06-30T14:37:42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38CF-C99C-874A-763D-AE731B0AB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7EE3D-BEEF-592C-1BD1-7A7D012B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D672E-6C01-3FCB-2C50-4215FF1CE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7AF85-8AC4-A45D-2B03-544D2EAD6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4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0298"/>
            <a:ext cx="4316106" cy="355203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26952"/>
            <a:ext cx="469888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MINI-PROJECT 3 · QUALITY LOSSES &amp; PREDICTIVE QUALITY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661475" y="1701105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Predicting Injection-Moulding Defect Types from Process Data</a:t>
            </a:r>
            <a:endParaRPr lang="en-US" sz="3900"/>
          </a:p>
        </p:txBody>
      </p:sp>
      <p:sp>
        <p:nvSpPr>
          <p:cNvPr id="5" name="Text 3"/>
          <p:cNvSpPr/>
          <p:nvPr/>
        </p:nvSpPr>
        <p:spPr>
          <a:xfrm>
            <a:off x="661475" y="3225006"/>
            <a:ext cx="10868745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multi-label, leakage-aware quality predictor for the ProBayes warpage-shell dataset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Dataset:</a:t>
            </a: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SKZ / Fraunhofer IPA — ProBayes (2022) · </a:t>
            </a:r>
            <a:endParaRPr lang="en-US" sz="145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564 cycles · 7 defect types · 2 materials · 334 features</a:t>
            </a:r>
            <a:endParaRPr lang="en-US" sz="14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C81AB-542E-14D1-2CC6-EFD06C60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2FCE4C41-6667-858C-5140-D2BD39371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5898" y="121296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69E3FB-123B-48DC-C022-303589AEC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43" y="4526426"/>
            <a:ext cx="3696216" cy="1829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13792"/>
            <a:ext cx="1101896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870445"/>
            <a:ext cx="1484672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MOTIVATION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1244600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Knowing a Part Is Scrap — After Measuring It — Is Too Late</a:t>
            </a:r>
            <a:endParaRPr lang="en-US" sz="3900"/>
          </a:p>
        </p:txBody>
      </p:sp>
      <p:sp>
        <p:nvSpPr>
          <p:cNvPr id="5" name="Text 3"/>
          <p:cNvSpPr/>
          <p:nvPr/>
        </p:nvSpPr>
        <p:spPr>
          <a:xfrm>
            <a:off x="661475" y="2938562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Overall Equipment Effectiveness = Availability × Performance × Quality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661475" y="3713460"/>
            <a:ext cx="577022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part is scrap when any quality feature is out of spec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Inline scale, thermal camera, and vision system only flag defects </a:t>
            </a:r>
            <a:r>
              <a:rPr lang="en-US" sz="14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after</a:t>
            </a: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part is made — material, energy, and cycle time are already lost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valuable move: </a:t>
            </a:r>
            <a:r>
              <a:rPr lang="en-US" sz="14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anticipate the defect from process signals</a:t>
            </a: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recommend a fix before scrap is produced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6899202" y="2981127"/>
            <a:ext cx="2224131" cy="1481931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088209" y="3170138"/>
            <a:ext cx="184611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Availability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7088209" y="3669209"/>
            <a:ext cx="18461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Mini-Project 1 — done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9312340" y="2981127"/>
            <a:ext cx="2224131" cy="1481931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501347" y="3170138"/>
            <a:ext cx="184611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Performance</a:t>
            </a:r>
            <a:endParaRPr lang="en-US" sz="1950"/>
          </a:p>
        </p:txBody>
      </p:sp>
      <p:sp>
        <p:nvSpPr>
          <p:cNvPr id="12" name="Text 10"/>
          <p:cNvSpPr/>
          <p:nvPr/>
        </p:nvSpPr>
        <p:spPr>
          <a:xfrm>
            <a:off x="9501347" y="3669209"/>
            <a:ext cx="18461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Mini-Project 2 — done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6899202" y="4652070"/>
            <a:ext cx="4637269" cy="1179512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8209" y="4841081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Quality</a:t>
            </a:r>
            <a:endParaRPr lang="en-US" sz="1950"/>
          </a:p>
        </p:txBody>
      </p:sp>
      <p:sp>
        <p:nvSpPr>
          <p:cNvPr id="15" name="Text 13"/>
          <p:cNvSpPr/>
          <p:nvPr/>
        </p:nvSpPr>
        <p:spPr>
          <a:xfrm>
            <a:off x="7088209" y="5340152"/>
            <a:ext cx="425925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— predictive quality</a:t>
            </a:r>
            <a:endParaRPr lang="en-US" sz="14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B7698D-9E07-83E8-ACDD-578F43050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405" y="6452454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8226"/>
            <a:ext cx="782916" cy="296267"/>
          </a:xfrm>
          <a:prstGeom prst="roundRect">
            <a:avLst>
              <a:gd name="adj" fmla="val 6675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18431"/>
            <a:ext cx="1194862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921941"/>
            <a:ext cx="10868745" cy="1081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Real Moulding Line, Deliberately Pushed to Make Good and Bad Parts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36592" y="2301280"/>
            <a:ext cx="31527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564</a:t>
            </a:r>
            <a:endParaRPr lang="en-US" sz="4250"/>
          </a:p>
        </p:txBody>
      </p:sp>
      <p:sp>
        <p:nvSpPr>
          <p:cNvPr id="6" name="Text 4"/>
          <p:cNvSpPr/>
          <p:nvPr/>
        </p:nvSpPr>
        <p:spPr>
          <a:xfrm>
            <a:off x="1331582" y="3035201"/>
            <a:ext cx="2162915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Cycles / Parts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19301" y="2301280"/>
            <a:ext cx="31528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47</a:t>
            </a:r>
            <a:endParaRPr lang="en-US" sz="4250"/>
          </a:p>
        </p:txBody>
      </p:sp>
      <p:sp>
        <p:nvSpPr>
          <p:cNvPr id="8" name="Text 6"/>
          <p:cNvSpPr/>
          <p:nvPr/>
        </p:nvSpPr>
        <p:spPr>
          <a:xfrm>
            <a:off x="5014291" y="3035201"/>
            <a:ext cx="2162915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Experimental Settings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8202110" y="2301280"/>
            <a:ext cx="31527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334</a:t>
            </a:r>
            <a:endParaRPr lang="en-US" sz="4250"/>
          </a:p>
        </p:txBody>
      </p:sp>
      <p:sp>
        <p:nvSpPr>
          <p:cNvPr id="10" name="Text 8"/>
          <p:cNvSpPr/>
          <p:nvPr/>
        </p:nvSpPr>
        <p:spPr>
          <a:xfrm>
            <a:off x="8697100" y="3035201"/>
            <a:ext cx="2162915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Raw Features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2677946" y="3675261"/>
            <a:ext cx="31527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</a:t>
            </a:r>
            <a:endParaRPr lang="en-US" sz="4250"/>
          </a:p>
        </p:txBody>
      </p:sp>
      <p:sp>
        <p:nvSpPr>
          <p:cNvPr id="12" name="Text 10"/>
          <p:cNvSpPr/>
          <p:nvPr/>
        </p:nvSpPr>
        <p:spPr>
          <a:xfrm>
            <a:off x="3172936" y="4409182"/>
            <a:ext cx="2162915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Sources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360656" y="3675261"/>
            <a:ext cx="31528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4250"/>
          </a:p>
        </p:txBody>
      </p:sp>
      <p:sp>
        <p:nvSpPr>
          <p:cNvPr id="14" name="Text 12"/>
          <p:cNvSpPr/>
          <p:nvPr/>
        </p:nvSpPr>
        <p:spPr>
          <a:xfrm>
            <a:off x="6855646" y="4409182"/>
            <a:ext cx="2162915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Materials (PP, ABS)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661475" y="4984849"/>
            <a:ext cx="338922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Inputs — Process Data </a:t>
            </a:r>
            <a:r>
              <a:rPr lang="en-US" sz="1700">
                <a:solidFill>
                  <a:srgbClr val="4950B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(used)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661475" y="5398889"/>
            <a:ext cx="5233360" cy="84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cycle values (EUROMAP 77)</a:t>
            </a:r>
            <a:endParaRPr lang="en-US" sz="1250"/>
          </a:p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settings varied in the experiments</a:t>
            </a:r>
            <a:endParaRPr lang="en-US" sz="1250"/>
          </a:p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Temperature-control units, dosing, drying, environment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6303209" y="4984849"/>
            <a:ext cx="4688366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Labels — Inline Quality Sensors </a:t>
            </a:r>
            <a:r>
              <a:rPr lang="en-US" sz="1700">
                <a:solidFill>
                  <a:srgbClr val="4950BC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(excluded)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6303209" y="5398889"/>
            <a:ext cx="5233360" cy="84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 camera (dimensions), thermal camera, scale</a:t>
            </a:r>
            <a:endParaRPr lang="en-US" sz="1250"/>
          </a:p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generate the 7 defect labels we predict</a:t>
            </a:r>
            <a:endParaRPr lang="en-US" sz="1250"/>
          </a:p>
          <a:p>
            <a:pPr marL="254000" indent="-254000" algn="l">
              <a:lnSpc>
                <a:spcPct val="125000"/>
              </a:lnSpc>
              <a:buSzPct val="100000"/>
              <a:buChar char="•"/>
            </a:pP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them as inputs = </a:t>
            </a:r>
            <a:r>
              <a:rPr lang="en-US" sz="12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leakage</a:t>
            </a:r>
            <a:r>
              <a:rPr lang="en-US" sz="12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deliberately removed</a:t>
            </a:r>
            <a:endParaRPr lang="en-US" sz="125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F49629-BBB3-72EC-E414-40F0C81C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6566"/>
            <a:ext cx="956742" cy="331589"/>
          </a:xfrm>
          <a:prstGeom prst="roundRect">
            <a:avLst>
              <a:gd name="adj" fmla="val 6498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98891"/>
            <a:ext cx="1351028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APPROACH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1026319"/>
            <a:ext cx="11411756" cy="589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Leakage-Free Pipeline, Evaluated the Honest Way</a:t>
            </a:r>
            <a:endParaRPr lang="en-US" sz="3700"/>
          </a:p>
        </p:txBody>
      </p:sp>
      <p:sp>
        <p:nvSpPr>
          <p:cNvPr id="5" name="Text 3"/>
          <p:cNvSpPr/>
          <p:nvPr/>
        </p:nvSpPr>
        <p:spPr>
          <a:xfrm>
            <a:off x="661475" y="1871365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661475" y="2151063"/>
            <a:ext cx="3509180" cy="254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291556"/>
            <a:ext cx="235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 Data Only</a:t>
            </a:r>
            <a:endParaRPr lang="en-US" sz="1850"/>
          </a:p>
        </p:txBody>
      </p:sp>
      <p:sp>
        <p:nvSpPr>
          <p:cNvPr id="8" name="Text 6"/>
          <p:cNvSpPr/>
          <p:nvPr/>
        </p:nvSpPr>
        <p:spPr>
          <a:xfrm>
            <a:off x="661475" y="2688332"/>
            <a:ext cx="35091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the 3 quality sensors; keep machine, settings, temperature, dosing, drying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341208" y="1871365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341208" y="2151063"/>
            <a:ext cx="3509180" cy="254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4341208" y="2291556"/>
            <a:ext cx="235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Build</a:t>
            </a:r>
            <a:endParaRPr lang="en-US" sz="1850"/>
          </a:p>
        </p:txBody>
      </p:sp>
      <p:sp>
        <p:nvSpPr>
          <p:cNvPr id="12" name="Text 10"/>
          <p:cNvSpPr/>
          <p:nvPr/>
        </p:nvSpPr>
        <p:spPr>
          <a:xfrm>
            <a:off x="4341208" y="2688332"/>
            <a:ext cx="350918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Scalars used directly; time-series summarised by mean/std/min/max → 564 × 241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020941" y="1871365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8020941" y="2151063"/>
            <a:ext cx="3509180" cy="254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20941" y="2291556"/>
            <a:ext cx="235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Honest Split</a:t>
            </a:r>
            <a:endParaRPr lang="en-US" sz="1850"/>
          </a:p>
        </p:txBody>
      </p:sp>
      <p:sp>
        <p:nvSpPr>
          <p:cNvPr id="16" name="Text 14"/>
          <p:cNvSpPr/>
          <p:nvPr/>
        </p:nvSpPr>
        <p:spPr>
          <a:xfrm>
            <a:off x="8020941" y="2688332"/>
            <a:ext cx="35091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5-fold CV holds out whole experiments — test on unseen settings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61475" y="383381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61475" y="4113510"/>
            <a:ext cx="5349047" cy="254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254004"/>
            <a:ext cx="235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Per-Defect Models</a:t>
            </a:r>
            <a:endParaRPr lang="en-US" sz="1850"/>
          </a:p>
        </p:txBody>
      </p:sp>
      <p:sp>
        <p:nvSpPr>
          <p:cNvPr id="20" name="Text 18"/>
          <p:cNvSpPr/>
          <p:nvPr/>
        </p:nvSpPr>
        <p:spPr>
          <a:xfrm>
            <a:off x="661475" y="4650780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Baseline, logistic regression, random forest, gradient boosting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181074" y="383381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181074" y="4113510"/>
            <a:ext cx="5349047" cy="254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074" y="4254004"/>
            <a:ext cx="235678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Counter-Action</a:t>
            </a:r>
            <a:endParaRPr lang="en-US" sz="1850"/>
          </a:p>
        </p:txBody>
      </p:sp>
      <p:sp>
        <p:nvSpPr>
          <p:cNvPr id="24" name="Text 22"/>
          <p:cNvSpPr/>
          <p:nvPr/>
        </p:nvSpPr>
        <p:spPr>
          <a:xfrm>
            <a:off x="6181074" y="4650780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each prediction into a set-point recommendation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661475" y="5257403"/>
            <a:ext cx="10868745" cy="973931"/>
          </a:xfrm>
          <a:prstGeom prst="roundRect">
            <a:avLst>
              <a:gd name="adj" fmla="val 2766"/>
            </a:avLst>
          </a:prstGeom>
          <a:solidFill>
            <a:srgbClr val="FFDECC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508823"/>
            <a:ext cx="224427" cy="17948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44867" y="5472807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Metrics: ROC-AUC, PR-AUC, balanced accuracy and F1 — per defect and macro-averaged (positives are rare, so accuracy alone would mislead).</a:t>
            </a:r>
            <a:endParaRPr lang="en-US" sz="1400">
              <a:latin typeface="PT Serif" panose="020A06030405050202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F8AF8A-B829-93E9-6154-CA5DFA799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447" y="6478660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9699"/>
            <a:ext cx="996528" cy="308868"/>
          </a:xfrm>
          <a:prstGeom prst="roundRect">
            <a:avLst>
              <a:gd name="adj" fmla="val 6609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72656"/>
            <a:ext cx="1402124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979785"/>
            <a:ext cx="10868745" cy="1116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Honest Score Is 0.895 — and It Holds Across Five Protocols</a:t>
            </a:r>
            <a:endParaRPr lang="en-US" sz="3500"/>
          </a:p>
        </p:txBody>
      </p:sp>
      <p:sp>
        <p:nvSpPr>
          <p:cNvPr id="5" name="Shape 3"/>
          <p:cNvSpPr/>
          <p:nvPr/>
        </p:nvSpPr>
        <p:spPr>
          <a:xfrm>
            <a:off x="661475" y="2498030"/>
            <a:ext cx="2254789" cy="1547912"/>
          </a:xfrm>
          <a:prstGeom prst="roundRect">
            <a:avLst>
              <a:gd name="adj" fmla="val 164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31532" y="2668091"/>
            <a:ext cx="1914676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0.895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831532" y="3100189"/>
            <a:ext cx="191467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score — held-out experiments, stable everywhere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069354" y="2498030"/>
            <a:ext cx="2254789" cy="1547912"/>
          </a:xfrm>
          <a:prstGeom prst="roundRect">
            <a:avLst>
              <a:gd name="adj" fmla="val 164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239411" y="2668091"/>
            <a:ext cx="1914676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0.978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3239411" y="3100189"/>
            <a:ext cx="191467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split — leaky, inflated (we do NOT report this)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61475" y="4218186"/>
            <a:ext cx="466266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i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number across 80/20, 60/40, leave-one-out and forward-in-time.</a:t>
            </a:r>
            <a:endParaRPr lang="en-US" sz="1300"/>
          </a:p>
        </p:txBody>
      </p:sp>
      <p:pic>
        <p:nvPicPr>
          <p:cNvPr id="14" name="Image 0" descr="figs2/fig2_protocols.png">
            <a:extLst>
              <a:ext uri="{FF2B5EF4-FFF2-40B4-BE49-F238E27FC236}">
                <a16:creationId xmlns:a16="http://schemas.microsoft.com/office/drawing/2014/main" id="{2E7BD703-9BD1-F603-3090-8B293E72F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33" y="2498030"/>
            <a:ext cx="6228054" cy="2656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83B472-5DAC-21DC-FF70-0C7C7C263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859" y="6414380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9883"/>
            <a:ext cx="1218773" cy="223341"/>
          </a:xfrm>
          <a:prstGeom prst="roundRect">
            <a:avLst>
              <a:gd name="adj" fmla="val 7109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18279"/>
            <a:ext cx="166961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COMPARISON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910233"/>
            <a:ext cx="10890474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Models Match Each Other — and a Deep TCN Does Not Win</a:t>
            </a:r>
            <a:endParaRPr lang="en-US" sz="2700"/>
          </a:p>
        </p:txBody>
      </p:sp>
      <p:sp>
        <p:nvSpPr>
          <p:cNvPr id="6" name="Text 3"/>
          <p:cNvSpPr/>
          <p:nvPr/>
        </p:nvSpPr>
        <p:spPr>
          <a:xfrm>
            <a:off x="661475" y="5848052"/>
            <a:ext cx="108687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edges other learners, but all three classical models cluster tightly. The deep Temporal Convolutional Network (TCN) does not outperform them at this dataset size — a reminder that more complexity is not always better with 564 cycles.</a:t>
            </a:r>
            <a:endParaRPr lang="en-US" sz="1000"/>
          </a:p>
        </p:txBody>
      </p:sp>
      <p:pic>
        <p:nvPicPr>
          <p:cNvPr id="8" name="Image 0" descr="figs2/fig6_models_tcn.png">
            <a:extLst>
              <a:ext uri="{FF2B5EF4-FFF2-40B4-BE49-F238E27FC236}">
                <a16:creationId xmlns:a16="http://schemas.microsoft.com/office/drawing/2014/main" id="{6D6C89BE-344A-2C5E-569E-F771FC7AE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015" y="1989243"/>
            <a:ext cx="7599663" cy="3390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57CFCC-F5E3-C0CB-EAFB-CC9DE697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9020"/>
            <a:ext cx="821312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52138"/>
            <a:ext cx="120408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999827"/>
            <a:ext cx="10096644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Strong on the Frequent, Actionable Defects</a:t>
            </a:r>
            <a:endParaRPr lang="en-US" sz="3900"/>
          </a:p>
        </p:txBody>
      </p:sp>
      <p:sp>
        <p:nvSpPr>
          <p:cNvPr id="6" name="Text 3"/>
          <p:cNvSpPr/>
          <p:nvPr/>
        </p:nvSpPr>
        <p:spPr>
          <a:xfrm>
            <a:off x="3777365" y="5736384"/>
            <a:ext cx="4637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ROC-AUC on </a:t>
            </a:r>
            <a:r>
              <a:rPr lang="en-US" sz="14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unseen settings</a:t>
            </a:r>
            <a:r>
              <a:rPr lang="en-US" sz="14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Rare defects (old granulate, streaks L1/L2) remain hard — reported honestly.</a:t>
            </a:r>
            <a:endParaRPr lang="en-US" sz="1450"/>
          </a:p>
        </p:txBody>
      </p:sp>
      <p:pic>
        <p:nvPicPr>
          <p:cNvPr id="8" name="Image 0" descr="figs2/fig3_perdefect_performance.png">
            <a:extLst>
              <a:ext uri="{FF2B5EF4-FFF2-40B4-BE49-F238E27FC236}">
                <a16:creationId xmlns:a16="http://schemas.microsoft.com/office/drawing/2014/main" id="{2BF7B99A-A650-3149-85C2-D5307F96E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80" y="2103979"/>
            <a:ext cx="7406640" cy="3353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0F4318-EF72-4568-FA57-E11C752EA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905"/>
            <a:ext cx="1188412" cy="318691"/>
          </a:xfrm>
          <a:prstGeom prst="roundRect">
            <a:avLst>
              <a:gd name="adj" fmla="val 6561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633623"/>
            <a:ext cx="15890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WORKS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953790"/>
            <a:ext cx="10992369" cy="571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Model Agrees with Injection-Moulding Physics</a:t>
            </a:r>
            <a:endParaRPr lang="en-US" sz="36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59" y="4885882"/>
            <a:ext cx="11774741" cy="13686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6957" y="5071427"/>
            <a:ext cx="2287034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Sink Marks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1819186" y="5089484"/>
            <a:ext cx="650013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Rise when packing is too weak — </a:t>
            </a:r>
            <a:r>
              <a:rPr lang="en-US" sz="13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low holding pressure, large leftover cushion</a:t>
            </a:r>
            <a:endParaRPr lang="en-US" sz="1350"/>
          </a:p>
        </p:txBody>
      </p:sp>
      <p:sp>
        <p:nvSpPr>
          <p:cNvPr id="9" name="Text 5"/>
          <p:cNvSpPr/>
          <p:nvPr/>
        </p:nvSpPr>
        <p:spPr>
          <a:xfrm>
            <a:off x="416956" y="5470451"/>
            <a:ext cx="2434569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Underfilled</a:t>
            </a:r>
            <a:endParaRPr lang="en-US" sz="1800"/>
          </a:p>
        </p:txBody>
      </p:sp>
      <p:sp>
        <p:nvSpPr>
          <p:cNvPr id="10" name="Text 6"/>
          <p:cNvSpPr/>
          <p:nvPr/>
        </p:nvSpPr>
        <p:spPr>
          <a:xfrm>
            <a:off x="1789727" y="5470451"/>
            <a:ext cx="532374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the same </a:t>
            </a:r>
            <a:r>
              <a:rPr lang="en-US" sz="13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packing deficit</a:t>
            </a:r>
            <a:r>
              <a:rPr lang="en-US" sz="13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sink marks</a:t>
            </a:r>
            <a:endParaRPr lang="en-US" sz="1350"/>
          </a:p>
        </p:txBody>
      </p:sp>
      <p:sp>
        <p:nvSpPr>
          <p:cNvPr id="13" name="Text 8"/>
          <p:cNvSpPr/>
          <p:nvPr/>
        </p:nvSpPr>
        <p:spPr>
          <a:xfrm>
            <a:off x="1814256" y="5836774"/>
            <a:ext cx="853300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Governed by </a:t>
            </a:r>
            <a:r>
              <a:rPr lang="en-US" sz="13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injection speed and tool/flange temperature</a:t>
            </a:r>
            <a:r>
              <a:rPr lang="en-US" sz="13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too fast and too hot burns the polymer</a:t>
            </a:r>
            <a:endParaRPr lang="en-US" sz="1350"/>
          </a:p>
        </p:txBody>
      </p:sp>
      <p:pic>
        <p:nvPicPr>
          <p:cNvPr id="16" name="Image 0" descr="figs2/fig5_process_drivers.png">
            <a:extLst>
              <a:ext uri="{FF2B5EF4-FFF2-40B4-BE49-F238E27FC236}">
                <a16:creationId xmlns:a16="http://schemas.microsoft.com/office/drawing/2014/main" id="{D040DEA7-580C-5A58-9864-9790973EE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11" y="1463040"/>
            <a:ext cx="10827099" cy="32004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B3510C8F-8949-5021-C7DB-20AF1D79C826}"/>
              </a:ext>
            </a:extLst>
          </p:cNvPr>
          <p:cNvSpPr/>
          <p:nvPr/>
        </p:nvSpPr>
        <p:spPr>
          <a:xfrm>
            <a:off x="416957" y="5864787"/>
            <a:ext cx="2434569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Streaks L3</a:t>
            </a:r>
            <a:endParaRPr lang="en-US" sz="18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C8E622-9699-7B22-8262-101BDDADC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6083"/>
            <a:ext cx="1880148" cy="264815"/>
          </a:xfrm>
          <a:prstGeom prst="roundRect">
            <a:avLst>
              <a:gd name="adj" fmla="val 6852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701668"/>
            <a:ext cx="230836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PREDICTION TO ACTION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1039217"/>
            <a:ext cx="11135637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Each Predicted Defect Maps to a Concrete Set-Point Change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661475" y="1716782"/>
            <a:ext cx="10868745" cy="3060700"/>
          </a:xfrm>
          <a:prstGeom prst="roundRect">
            <a:avLst>
              <a:gd name="adj" fmla="val 7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30" y="1802011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Predicted Defect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3861993" y="1802011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Set-Point to Change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770122" y="1802011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819130" y="2183805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Sink Marks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3861993" y="2183805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Pressure 1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7770122" y="2183805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819130" y="2565598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Sprue Circle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861993" y="2565598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Time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7770122" y="2565598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819130" y="2947392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Underfilled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861993" y="2947392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Pressure 1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7770122" y="2947392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19130" y="3329186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Streaks L1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3861993" y="3329186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Pressure 1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7770122" y="3329186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819130" y="3710980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Streaks L2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3861993" y="3710980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Pressure 1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7770122" y="3710980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Decrease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819130" y="4092773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Streaks L3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861993" y="4092773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 Temperature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7770122" y="4092773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819130" y="4474567"/>
            <a:ext cx="33436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 Granulate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861993" y="4474567"/>
            <a:ext cx="420895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Holding Pressure 1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7770122" y="4474567"/>
            <a:ext cx="421212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Decrease (review)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661475" y="5034459"/>
            <a:ext cx="295009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Validated on the Real Data</a:t>
            </a:r>
            <a:endParaRPr lang="en-US" sz="1550"/>
          </a:p>
        </p:txBody>
      </p:sp>
      <p:sp>
        <p:nvSpPr>
          <p:cNvPr id="31" name="Text 29"/>
          <p:cNvSpPr/>
          <p:nvPr/>
        </p:nvSpPr>
        <p:spPr>
          <a:xfrm>
            <a:off x="661475" y="5403453"/>
            <a:ext cx="5249930" cy="54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b="1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Sink-mark rate vs holding pressure: low → high = 0.36 → 0.06</a:t>
            </a:r>
            <a:endParaRPr lang="en-US" sz="115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Raising holding pressure really does cut the fault — confirmed in the DoE.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6286640" y="5049540"/>
            <a:ext cx="5249930" cy="946348"/>
          </a:xfrm>
          <a:prstGeom prst="roundRect">
            <a:avLst>
              <a:gd name="adj" fmla="val 2397"/>
            </a:avLst>
          </a:prstGeom>
          <a:solidFill>
            <a:srgbClr val="FFDECC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46" y="5264944"/>
            <a:ext cx="189007" cy="151209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778059" y="5196185"/>
            <a:ext cx="460730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i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of 7 rules confirmed; the rare one flagged. A transparent, auditable rule-base, each rule checked against the real experiments — not a black box.</a:t>
            </a:r>
            <a:endParaRPr lang="en-US" sz="115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AFBE339-BD4B-25B0-3D40-11D22FCAB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458776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149"/>
            <a:ext cx="989881" cy="280690"/>
          </a:xfrm>
          <a:prstGeom prst="roundRect">
            <a:avLst>
              <a:gd name="adj" fmla="val 6761"/>
            </a:avLst>
          </a:prstGeom>
          <a:noFill/>
          <a:ln/>
          <a:effectLst>
            <a:outerShdw blurRad="101600" dist="50800" dir="16200000" algn="bl" rotWithShape="0">
              <a:srgbClr val="E04F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61475" y="583208"/>
            <a:ext cx="1409764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661475" y="869349"/>
            <a:ext cx="6228698" cy="518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Did We Get Good Results? Yes.</a:t>
            </a:r>
            <a:endParaRPr lang="en-US" sz="3250"/>
          </a:p>
        </p:txBody>
      </p:sp>
      <p:sp>
        <p:nvSpPr>
          <p:cNvPr id="5" name="Text 3"/>
          <p:cNvSpPr/>
          <p:nvPr/>
        </p:nvSpPr>
        <p:spPr>
          <a:xfrm>
            <a:off x="1062805" y="1657152"/>
            <a:ext cx="4548867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0.895</a:t>
            </a:r>
            <a:endParaRPr lang="en-US" sz="4100"/>
          </a:p>
        </p:txBody>
      </p:sp>
      <p:sp>
        <p:nvSpPr>
          <p:cNvPr id="6" name="Text 4"/>
          <p:cNvSpPr/>
          <p:nvPr/>
        </p:nvSpPr>
        <p:spPr>
          <a:xfrm>
            <a:off x="2217186" y="2357338"/>
            <a:ext cx="2240204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Honest Macro ROC-AUC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61475" y="2696170"/>
            <a:ext cx="535162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0.978 leaky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79824" y="1657152"/>
            <a:ext cx="4548967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0.94</a:t>
            </a:r>
            <a:endParaRPr lang="en-US" sz="4100"/>
          </a:p>
        </p:txBody>
      </p:sp>
      <p:sp>
        <p:nvSpPr>
          <p:cNvPr id="9" name="Text 7"/>
          <p:cNvSpPr/>
          <p:nvPr/>
        </p:nvSpPr>
        <p:spPr>
          <a:xfrm>
            <a:off x="7816456" y="2357338"/>
            <a:ext cx="2075704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OK/NOK Gate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178495" y="2696170"/>
            <a:ext cx="535172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0.88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62805" y="3272234"/>
            <a:ext cx="4548867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6/7</a:t>
            </a:r>
            <a:endParaRPr lang="en-US" sz="4100"/>
          </a:p>
        </p:txBody>
      </p:sp>
      <p:sp>
        <p:nvSpPr>
          <p:cNvPr id="12" name="Text 10"/>
          <p:cNvSpPr/>
          <p:nvPr/>
        </p:nvSpPr>
        <p:spPr>
          <a:xfrm>
            <a:off x="2299436" y="3972421"/>
            <a:ext cx="2075704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Rules Validated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61475" y="4311253"/>
            <a:ext cx="535162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Counter-action rules confirmed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579824" y="3272234"/>
            <a:ext cx="4548967" cy="521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</a:t>
            </a:r>
            <a:endParaRPr lang="en-US" sz="4100"/>
          </a:p>
        </p:txBody>
      </p:sp>
      <p:sp>
        <p:nvSpPr>
          <p:cNvPr id="15" name="Text 13"/>
          <p:cNvSpPr/>
          <p:nvPr/>
        </p:nvSpPr>
        <p:spPr>
          <a:xfrm>
            <a:off x="7758811" y="3972421"/>
            <a:ext cx="2191092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Quality-Sensor Leakage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178495" y="4311253"/>
            <a:ext cx="535172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Deliberately excluded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2083875" y="4992943"/>
            <a:ext cx="7055783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22000"/>
              </a:lnSpc>
            </a:pPr>
            <a:r>
              <a:rPr lang="en-US" sz="1200">
                <a:solidFill>
                  <a:srgbClr val="383838"/>
                </a:solidFill>
                <a:latin typeface="DM Sans"/>
                <a:ea typeface="DM Sans" pitchFamily="34" charset="-122"/>
                <a:cs typeface="DM Sans" pitchFamily="34" charset="-120"/>
              </a:rPr>
              <a:t>Leakage-free, honestly evaluated, physically interpretable, with validated recommendations — and we even tried deep learning   (a TCN), which did not beat the simple model at this data size.</a:t>
            </a:r>
            <a:endParaRPr lang="en-US" sz="1200">
              <a:latin typeface="DM San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D39D4A-487A-426D-6422-ABBC34A2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450456"/>
            <a:ext cx="1724266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19E-69D7-D600-6B51-0CDBA324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AFF7325-D68A-578B-8468-A1620D11D70D}"/>
              </a:ext>
            </a:extLst>
          </p:cNvPr>
          <p:cNvSpPr/>
          <p:nvPr/>
        </p:nvSpPr>
        <p:spPr>
          <a:xfrm>
            <a:off x="661474" y="2604789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GB" sz="6000" b="1">
                <a:latin typeface="PT Serif" panose="020A0603040505020204" pitchFamily="18" charset="0"/>
              </a:rPr>
              <a:t>Thank You!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6000">
              <a:latin typeface="PT Serif" panose="020A060304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A9066-4E35-1EAC-1A18-30D01C2EE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476947"/>
            <a:ext cx="1724266" cy="381053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6CE0C905-547F-5362-A360-78D32BEC85EF}"/>
              </a:ext>
            </a:extLst>
          </p:cNvPr>
          <p:cNvSpPr/>
          <p:nvPr/>
        </p:nvSpPr>
        <p:spPr>
          <a:xfrm>
            <a:off x="911448" y="1325691"/>
            <a:ext cx="1409764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</a:t>
            </a:r>
            <a:endParaRPr lang="en-US" sz="1400" b="1" dirty="0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3B419428-2B3B-42C7-A8D6-16462ABB0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913" y="153790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29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485c82-cf81-4da2-9577-27b858425d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2DAADC1FD3794D8761720A6DD4E29D" ma:contentTypeVersion="5" ma:contentTypeDescription="Ein neues Dokument erstellen." ma:contentTypeScope="" ma:versionID="af0cfed9af42a0f4c5b719d58b093657">
  <xsd:schema xmlns:xsd="http://www.w3.org/2001/XMLSchema" xmlns:xs="http://www.w3.org/2001/XMLSchema" xmlns:p="http://schemas.microsoft.com/office/2006/metadata/properties" xmlns:ns3="46485c82-cf81-4da2-9577-27b858425da3" targetNamespace="http://schemas.microsoft.com/office/2006/metadata/properties" ma:root="true" ma:fieldsID="b0fff9ee0e1c227ad3881fc533324089" ns3:_="">
    <xsd:import namespace="46485c82-cf81-4da2-9577-27b858425d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85c82-cf81-4da2-9577-27b858425d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61CC15-8D2C-4A4D-8592-2A56A0FCF6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C75008-75BE-4F2F-AFC9-3C0486600B51}">
  <ds:schemaRefs>
    <ds:schemaRef ds:uri="46485c82-cf81-4da2-9577-27b858425d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38F6313-CA02-402B-9D67-4907A99DAB6D}">
  <ds:schemaRefs>
    <ds:schemaRef ds:uri="46485c82-cf81-4da2-9577-27b858425d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754</Words>
  <Application>Microsoft Office PowerPoint</Application>
  <PresentationFormat>Widescreen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</vt:lpstr>
      <vt:lpstr>PT Serif Light</vt:lpstr>
      <vt:lpstr>Arial</vt:lpstr>
      <vt:lpstr>DM Sans Bold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 shajan</dc:creator>
  <cp:lastModifiedBy>Shajan, Geo</cp:lastModifiedBy>
  <cp:revision>6</cp:revision>
  <dcterms:created xsi:type="dcterms:W3CDTF">2026-06-30T08:53:07Z</dcterms:created>
  <dcterms:modified xsi:type="dcterms:W3CDTF">2026-06-30T16:13:03Z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0x010100C62DAADC1FD3794D8761720A6DD4E29D</vt:lpwstr>
  </property>
</Properties>
</file>